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8998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ADVANCED ARTIFICIAL NEURAL NETWORKS (AANN) · LAB CASE STUDY</a:t>
            </a:r>
          </a:p>
          <a:p>
            <a:pPr>
              <a:spcBef>
                <a:spcPts val="800"/>
              </a:spcBef>
              <a:defRPr sz="5000" b="1">
                <a:solidFill>
                  <a:srgbClr val="FFFFFF"/>
                </a:solidFill>
              </a:defRPr>
            </a:pPr>
            <a:r>
              <a:t>VoicePrint</a:t>
            </a:r>
          </a:p>
          <a:p>
            <a:pPr>
              <a:spcBef>
                <a:spcPts val="400"/>
              </a:spcBef>
              <a:defRPr sz="2200" b="1">
                <a:solidFill>
                  <a:srgbClr val="2DD4BF"/>
                </a:solidFill>
              </a:defRPr>
            </a:pPr>
            <a:r>
              <a:t>Case Study in Deep Neural Speaker Verification &amp; Hyperspherical Latent Embeddings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</a:defRPr>
            </a:pPr>
            <a:r>
              <a:t>An in-depth investigation into Time-Delay Neural Architectures, Channel Attention (Squeeze-and-Excitation), Attentive Statistics Pooling, and Angular Margin Metric Learning for offline biometrics.</a:t>
            </a:r>
          </a:p>
          <a:p>
            <a:pPr>
              <a:spcBef>
                <a:spcPts val="2400"/>
              </a:spcBef>
              <a:defRPr sz="1300" b="1">
                <a:solidFill>
                  <a:srgbClr val="FBBF24"/>
                </a:solidFill>
              </a:defRPr>
            </a:pPr>
            <a:r>
              <a:t>Presented by: BATTIPROLU KARTHIK  |  Model: SpeechBrain ECAPA-TDNN (192-dim, AAM-Softmax)  |  Offline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BIOMETRIC FORMULATION &amp; TASK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Speaker Recognition: Identification vs. Verification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Closed-Set Identification vs. Open-Set Verification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Closed-Set Identification (1:N): Given utterance X, select speaker s* in known gallery S = {s1..sN}. Standard multiclass classification problem.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Open-Set Verification (1:1): Core biometric problem. Given claimed identity ID and test speech X_test, evaluate binary hypothesis testing:</a:t>
            </a:r>
            <a:br/>
            <a:r>
              <a:t>  • H0: Speaker is genuine claim (X_test matches enrolled profile c_ID)</a:t>
            </a:r>
            <a:br/>
            <a:r>
              <a:t>  • H1: Speaker is an impostor (X_test does not match c_ID)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The Open-Set Challenge: Real-world test speakers were NEVER seen during neural network training (S_test ∩ S_train = ∅). The network cannot output fixed class probabilities; it must output a generalized speaker descriptor vector.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</a:defRPr>
            </a:pPr>
            <a:r>
              <a:t>2. Acoustic Variabilities &amp; The Metric Learning Goal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Intra-Speaker Variability: High variance within the same person due to phonemic context, emotional state, respiratory illness, vocal fatigue, microphone distance, and ambient room reverberation.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Inter-Speaker Variability: Two distinct individuals may share similar pitch, formant ranges, or accents. The deep model must isolate subtle anatomical vocal tract signatures.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Mathematical Objective: Learn a non-linear mapping f_θ: X ↦ z ∈ R^d such that:</a:t>
            </a:r>
            <a:br/>
            <a:r>
              <a:t>  • Intra-speaker geodesic distance: d(z_i^(a), z_i^(b)) → 0</a:t>
            </a:r>
            <a:br/>
            <a:r>
              <a:t>  • Inter-speaker geodesic distance: d(z_i, z_j) ≥ m (large margin)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Zero-Cloud Offline Imperative: Voice contains personal biometric markers. Local CPU neural inference guarantees total user privacy and zero data leakage.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ACOUSTIC SIGNAL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Front-End Feature Extraction: Raw Waveform to Log-Mel 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Framing &amp; STFT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Sampling Rate: 16,000 Hz (16 kHz mono PCM audio)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Frame Length: N = 400 samples (25 ms analysis window)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Frame Shift: H = 160 samples (10 ms hop, 60% overlap)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Hamming Windowing: w(n) = 0.54 - 0.46·cos(2πn/(N-1)) applied to suppress spectral edge discontinuities.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Short-Time Fourier Transform: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   X(m, k) = Σ x(mH + n) w(n) e^(-j 2πkn/N)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Captures local quasi-stationary acoustic frequency content across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2. 80-Channel Mel Scale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Perceptual Non-Linearity: Human auditory cochlea has higher frequency resolution at low frequencies (&lt; 1 kHz).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Mel Frequency Mapping: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   m = 2595 · log10(1 + f / 700)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80 Triangular Bandpass Filters: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Spans 0 Hz to Nyquist frequency (8000 Hz) to model vocal tract formants (F1, F2, F3).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Logarithmic Compression: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   S_mel(t, f) = log(1 + |X_mel(t, f)|)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Compresses high dynamic range, matching decibel loudness perception.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3. Temporal CMVN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Cepstral Mean &amp; Variance Normalization: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Computes mean μ_f and variance σ_f^2 per filter channel f along time dimension T.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   Ŝ(t, f) = [S(t, f) - μ_f] / σ_f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Channel Invariance: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Eliminates stationary additive background noise and linear microphone frequency response distortions.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Resulting Tensor Input: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   Shape: (Batch, T_frames, 80)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Standardized neural front-end fed directly into frame-level 1D dilated convolutions.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EVOLUTION OF SPEAKER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Existing Solutions vs. Proposed ECAPA-TDNN Deep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2011680"/>
                <a:gridCol w="1645920"/>
                <a:gridCol w="2590495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Architecture Era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Representation &amp; Method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Temporal Modeling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VoxCeleb1 EER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Primary Architectural Bottleneck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GMM-UBM (Reynolds 2000)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Gaussian Mixture Model (512-2048 comps) with MAP adaptation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Orderless statistical frame aggregation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~15.20%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Shallow density fit; vulnerable to acoustic channel mismatch &amp; noise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i-Vector + PLDA (Dehak 2011)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Low-rank factor analysis: M = m + Tw (w in R^400) + PLDA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Global utterance statistics via Baum-Welch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~5.39%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Linear subspace assumption fails on non-linear acoustic manifolds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TDNN x-vector (Snyder 2018)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Time-Delay Neural Network (1D Conv) + Mean/Std Pooling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Uniform temporal pooling over all frames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~3.12%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Equal temporal frame weights; lacks channel-wise feature recalibration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ECAPA-TDNN (VoicePrint)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Dilated Res2Net + SE + MFA + Channel-Attentive Pooling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Dynamic Channel-Attentive Statistics (Ch-ASP)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0.98% (SOTA)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Optimal SOTA balance: 6.2M params, sub-120ms CPU latency, high margin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D4BF"/>
                </a:solidFill>
              </a:defRPr>
            </a:pPr>
            <a:r>
              <a:t>Key Paradigm Shift in VoicePrint's ECAPA-TDNN Approach: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1. Hierarchical Multi-Scale Features: Replaces rigid uniform receptive fields with Res2Net multi-granular temporal sub-bands.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2. Dynamic Channel Attention: Squeeze-and-Excitation selectively excites vocal tract formant frequencies while damping noise.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3. Channel-Dependent Attentive Pooling: Gives non-uniform weight to phonetically rich frames over unvoiced silence.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DETAILED NEURAL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1D Dilated Convolutions &amp; Res2Net Hierarchical Multi-Scale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Temporal Dilated Convolutions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Exponential Receptive Field Growth: Standard Conv1D requires deep layers to view broad time spans. Dilated convolutions insert spaces (holes) into kernels: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Receptive Field Equation: RF = 1 + Σ (k_i - 1) · d_i, where k_i is kernel size (k=3 or 5) and d_i is dilation factor.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Dilation Progression: Layer 1 uses d=1 (local 5-frame phoneme), Blocks 2-4 use d ∈ {2, 3, 4}, expanding context to &gt;150 ms without parameter bloat.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Computational Efficiency: Avoids expensive recurrent state unrolling (RNN/LSTM) and quadratic self-attention memory overhead O(T^2) of standard Transformers.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</a:defRPr>
            </a:pPr>
            <a:r>
              <a:t>2. Res2Net Multi-Scale Processing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Channel Sub-Grouping: The feature map with C=512 channels is split into s=8 equal sub-feature groups: x = [x_1, x_2, ..., x_s], where each x_i ∈ R^(C/s).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Hierarchical Residual Feeding: Sub-group 1 is passed directly (y_1 = x_1). Sub-groups i ≥ 2 compute:</a:t>
            </a:r>
            <a:br/>
            <a:r>
              <a:t>  y_i = Conv_1D(x_i + y_{i-1}, kernel=3, dilation=d)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Combinatorial Scale Explosion: Sub-group y_i processes features with an effective receptive field wider than y_{i-1}. When concatenated: Y = [y_1, y_2, ..., y_s], the block captures multi-scale acoustic phenomena simultaneously.</a:t>
            </a:r>
          </a:p>
          <a:p>
            <a:pPr>
              <a:spcBef>
                <a:spcPts val="1000"/>
              </a:spcBef>
              <a:defRPr sz="1250">
                <a:solidFill>
                  <a:srgbClr val="CBD5E1"/>
                </a:solidFill>
              </a:defRPr>
            </a:pPr>
            <a:r>
              <a:t>Speaker Benefit: Seamlessly captures short transient consonants (plosives: 10-20ms) alongside long sustained vowel formants (100-250ms).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CHANNEL ATTENTION &amp; FEATURE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Squeeze-and-Excitation (SE) &amp; Multi-Layer Feature Aggregation (MFA)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Squeeze-and-Excitation (SE) Channel Recalibration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Motivation: Different acoustic channels represent different frequency harmonics. SE explicitly models non-linear inter-channel dependencies.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Squeeze Operation (Global Context): Compresses temporal dimension T into channel descriptor z ∈ R^C via Global Average Pooling:</a:t>
            </a:r>
            <a:br/>
            <a:r>
              <a:t>  z_c = (1 / T) Σ_{t=1}^T u_c(t)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Excitation Operation (Channel Gating): Two-layer bottleneck MLP with reduction ratio r=8:</a:t>
            </a:r>
            <a:br/>
            <a:r>
              <a:t>  s = σ( W_2 · ReLU(W_1 · z) ), where s ∈ (0, 1)^C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Scale / Recalibration: Re-weights input feature map u:</a:t>
            </a:r>
            <a:br/>
            <a:r>
              <a:t>  ũ_{c, t} = s_c · u_{c, t}</a:t>
            </a:r>
            <a:br/>
            <a:r>
              <a:t>Amplifies discriminative vocal resonance; attenuates background hums.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</a:defRPr>
            </a:pPr>
            <a:r>
              <a:t>2. Multi-Layer Feature Aggregation (MFA)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The Shallow vs. Deep Dilemma: Early layers capture fine-grained phonetic textures (pitch, glottal pulse). Deeper layers capture abstract speaker identities. Traditional networks discard early layers.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Multi-Layer Concatenation: ECAPA-TDNN aggregates the output feature maps of all three SE-Res2Net residual blocks:</a:t>
            </a:r>
            <a:br/>
            <a:r>
              <a:t>  h_MFA(t) = [ h_1(t) ; h_2(t) ; h_3(t) ] ∈ R^(3C × T)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Dense 1×1 Projection: A 1×1 Conv layer projects concatenated 1536 channels back down to C=512 channels, fusing complementary multi-depth information.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Impact on Robustness: Prevents vanishing gradient; ensures temporal statistics pooling receives both acoustic timbre and high-level identity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TEMPORAL POOLING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Channel-Dependent Attentive Statistics Pooling (Ch-ASP)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2860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Mathematical Formulation of Channel-Dependent Attentive Statistics Pooling:</a:t>
            </a:r>
          </a:p>
          <a:p>
            <a:pPr>
              <a:spcBef>
                <a:spcPts val="600"/>
              </a:spcBef>
              <a:defRPr sz="1250" b="1">
                <a:solidFill>
                  <a:srgbClr val="FFFFFF"/>
                </a:solidFill>
              </a:defRPr>
            </a:pPr>
            <a:r>
              <a:t>1. Attention Energy Computation:  e_{c, t} = v_c^T · f( W · h_t + b ),  where h_t is MFA frame representation at time t</a:t>
            </a:r>
          </a:p>
          <a:p>
            <a:pPr>
              <a:spcBef>
                <a:spcPts val="600"/>
              </a:spcBef>
              <a:defRPr sz="1250" b="1">
                <a:solidFill>
                  <a:srgbClr val="FFFFFF"/>
                </a:solidFill>
              </a:defRPr>
            </a:pPr>
            <a:r>
              <a:t>2. Softmax Temporal Normalization:  α_{c, t} = exp(e_{c, t}) / Σ_{τ=1}^T exp(e_{c, τ}),  guaranteeing Σ_t α_{c, t} = 1 for each channel c</a:t>
            </a:r>
          </a:p>
          <a:p>
            <a:pPr>
              <a:spcBef>
                <a:spcPts val="600"/>
              </a:spcBef>
              <a:defRPr sz="1250" b="1">
                <a:solidFill>
                  <a:srgbClr val="FFFFFF"/>
                </a:solidFill>
              </a:defRPr>
            </a:pPr>
            <a:r>
              <a:t>3. Weighted Channel Mean Vector:  μ̃_c = Σ_{t=1}^T α_{c, t} · h_{c, t}</a:t>
            </a:r>
          </a:p>
          <a:p>
            <a:pPr>
              <a:spcBef>
                <a:spcPts val="600"/>
              </a:spcBef>
              <a:defRPr sz="1250" b="1">
                <a:solidFill>
                  <a:srgbClr val="FFFFFF"/>
                </a:solidFill>
              </a:defRPr>
            </a:pPr>
            <a:r>
              <a:t>4. Weighted Channel Std Deviation:  σ̃_c = √[ Σ_{t=1}^T α_{c, t} · (h_{c, t} - μ̃_c)^2 ]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Why Standard Temporal Pooling Fails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Uniform weighting (1/T) treats silence, background room noise, coughs, and key speaker formants with identical importance.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Vulnerable to variable utterance length: short pauses skew the global mean vector.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Scalar attention applies one weight across all channels, ignoring frequency-selective speaker traits.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242255" cy="22860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77639"/>
            <a:ext cx="4876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Ch-ASP Advantage in VoicePrint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Channel-Specific Attention: Frame importance α_{c, t} is distinct for each feature channel c. High-frequency formants attend to different frames than low-pitch glottal bursts.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Output Concatenation: p = [ μ̃ ; σ̃ ] ∈ R^(2C = 1024), capturing both central tendency and temporal dynamics.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• Bottleneck Projection: Fully-connected layer projects 1024-dim down to the final compact 192-dim voiceprint embedding.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DEEP METRIC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Loss Functions: Softmax Cross-Entropy vs. AAM-Softmax (ArcFace)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1. Standard Cross-Entropy Failure in Open-Set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Euclidean Softmax Loss: L_CE = -log [ e^(W_y^T x + b_y) / Σ_j e^(W_j^T x + b_j) ]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Flaw: Separable but not Discriminative: Standard cross-entropy only separates training classes with linear hyperplanes in Euclidean space.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No Intra-Class Compaction: It does NOT force samples of the same speaker to form tight geometric clusters, nor does it enforce a margin between different speakers.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Failure on Unseen Speakers: In open-set testing, features from new speakers scatter into arbitrary gaps in Euclidean space, leading to false acceptances.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2. Additive Angular Margin Softmax (AAM / ArcFace)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Hyperspherical Constraint: Normalize both embedding ||x_i|| = 1 and class weights ||W_j|| = 1, fixing bias b=0. The logit simplifies to cos(θ_j).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AAM-Softmax Objective: L_AAM = -(1/N) Σ log [ e^(s · cos(θ_y + m)) / ( e^(s · cos(θ_y + m)) + Σ_{j≠y} e^(s · cos(θ_j)) ) ]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Scale &amp; Margin Parameters: Scale s = 30 defines the hypersphere radius; additive angular margin m = 0.20 radians enforces strict geodesic separation on S^(191).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Geometric Guarantee: Forces intra-speaker clustering on the unit hypersphere and guarantees an angular buffer zone between different speaker identities.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INFERENCE &amp; DECISION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Cosine Similarity Metric, Decision Threshold (τ=0.70), and Error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Cosine Distance Metric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Inference Formulation: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Score(x_test, c) = (x_test · c) / ( ||x_test||_2 · ||c||_2 )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Geodesic Angle: Equals cos(θ), bounded in [-1.0, 1.0].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L2-Normalization: With normalized unit vectors ||x||=1, ||c||=1, cosine similarity simplifies to a fast inner product dot product (x_test^T c).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Sub-Millisecond Speed: Vector multiplication takes &lt; 0.1 ms in NumPy/PyTorch, enabling instant decision verification on low-power devices.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2. Threshold Calibration (τ = 0.70)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Binary Decision Rule: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Verdict = 'VERIFIED' if Score ≥ 0.70 else 'REJECTED'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Threshold Selection Trade-off: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Higher τ (&gt; 0.80): High security (banking, vault access). Extremely low FAR, but higher FRR for users with hoarse voices.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Lower τ (&lt; 0.60): Convenience (smart speakers). Low FRR, but higher risk of impostor acceptance.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Calibrated Balance: τ = 0.70 represents the empirical Equal Error Rate operating point for 16 kHz clean speech.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3. Evaluation Metrics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False Acceptance Rate (FAR / Type I):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FAR(τ) = P(Score ≥ τ | Impostor)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Probability that an unauthorized voice is granted access.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False Rejection Rate (FRR / Type II):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FRR(τ) = P(Score &lt; τ | Target)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Probability that genuine enrolled user is locked out.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Equal Error Rate (EER):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The unique operating point τ* where FAR(τ*) = FRR(τ*). Lower is better. ECAPA-TDNN achieves 0.98% on VoxCeleb1.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EMPIRICAL BENCHMARKS &amp;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Performance Evaluation on VoxCeleb1 and Architectural Ablation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188720"/>
                <a:gridCol w="1371600"/>
                <a:gridCol w="109728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Neural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VoxCeleb1 EER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CPU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i-Vector + PLDA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4.2M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5.39%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850 ms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TDNN x-vector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4.4M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3.12%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190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ResNet-34 (Heavy)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21.8M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1.34%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380 ms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ECAPA-TDNN (VoicePrint)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6.2M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0.98%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115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1371600"/>
            <a:ext cx="4967935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</a:defRPr>
            </a:pPr>
            <a:r>
              <a:t>Architectural Component Ablation Study</a:t>
            </a:r>
          </a:p>
          <a:p>
            <a:pPr>
              <a:spcBef>
                <a:spcPts val="700"/>
              </a:spcBef>
              <a:defRPr sz="1150">
                <a:solidFill>
                  <a:srgbClr val="CBD5E1"/>
                </a:solidFill>
              </a:defRPr>
            </a:pPr>
            <a:r>
              <a:t>Baseline Standard TDNN (x-vector): 3.12% EER</a:t>
            </a:r>
            <a:br/>
            <a:r>
              <a:t>Uniform temporal pooling, simple Conv1D layers.</a:t>
            </a:r>
          </a:p>
          <a:p>
            <a:pPr>
              <a:spcBef>
                <a:spcPts val="700"/>
              </a:spcBef>
              <a:defRPr sz="1150">
                <a:solidFill>
                  <a:srgbClr val="CBD5E1"/>
                </a:solidFill>
              </a:defRPr>
            </a:pPr>
            <a:r>
              <a:t>+ Res2Net Multi-Scale Blocks: 2.15% EER (-31.1% relative)</a:t>
            </a:r>
            <a:br/>
            <a:r>
              <a:t>Hierarchical feature splitting captures multi-granular formants.</a:t>
            </a:r>
          </a:p>
          <a:p>
            <a:pPr>
              <a:spcBef>
                <a:spcPts val="700"/>
              </a:spcBef>
              <a:defRPr sz="1150">
                <a:solidFill>
                  <a:srgbClr val="CBD5E1"/>
                </a:solidFill>
              </a:defRPr>
            </a:pPr>
            <a:r>
              <a:t>+ Squeeze-and-Excitation (SE): 1.68% EER (-21.9% relative)</a:t>
            </a:r>
            <a:br/>
            <a:r>
              <a:t>Explicit channel recalibration boosts formant channel SNR.</a:t>
            </a:r>
          </a:p>
          <a:p>
            <a:pPr>
              <a:spcBef>
                <a:spcPts val="700"/>
              </a:spcBef>
              <a:defRPr sz="1150">
                <a:solidFill>
                  <a:srgbClr val="CBD5E1"/>
                </a:solidFill>
              </a:defRPr>
            </a:pPr>
            <a:r>
              <a:t>+ Multi-Layer Feature Aggregation (MFA): 1.32% EER (-21.4% relative)</a:t>
            </a:r>
            <a:br/>
            <a:r>
              <a:t>Concatenation preserves low-level acoustic timbre.</a:t>
            </a:r>
          </a:p>
          <a:p>
            <a:pPr>
              <a:spcBef>
                <a:spcPts val="700"/>
              </a:spcBef>
              <a:defRPr sz="1150">
                <a:solidFill>
                  <a:srgbClr val="CBD5E1"/>
                </a:solidFill>
              </a:defRPr>
            </a:pPr>
            <a:r>
              <a:t>+ Channel-Attentive Pooling (Ch-ASP): 0.98% EER (-25.8% relative)</a:t>
            </a:r>
            <a:br/>
            <a:r>
              <a:t>Frame importance weighted independently per channel.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5486400" cy="16459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Efficiency Takeaways for Offline CPU Deployment: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• Parameter Footprint: Only 6.2 Million weights (26.4 MB in FP32).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• Real-Time Factor (RTF): 0.038 on Intel/AMD standard CPU (processes 3-second speech in ~115 ms).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• Zero GPU Requirement: Completely eliminates specialized cloud accelerators.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IMPLEMENTATION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Centroid Enrollment, Outlier Filtering &amp;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Centroid Enrollment &amp; Outlier Rejection</a:t>
            </a:r>
          </a:p>
          <a:p>
            <a:pPr>
              <a:spcBef>
                <a:spcPts val="700"/>
              </a:spcBef>
              <a:defRPr sz="1200">
                <a:solidFill>
                  <a:srgbClr val="CBD5E1"/>
                </a:solidFill>
              </a:defRPr>
            </a:pPr>
            <a:r>
              <a:t>Multi-Sample Enrollment: The user speaks K ≥ 3 short audio clips during enrollment to sample acoustic variability.</a:t>
            </a:r>
          </a:p>
          <a:p>
            <a:pPr>
              <a:spcBef>
                <a:spcPts val="700"/>
              </a:spcBef>
              <a:defRPr sz="1200">
                <a:solidFill>
                  <a:srgbClr val="CBD5E1"/>
                </a:solidFill>
              </a:defRPr>
            </a:pPr>
            <a:r>
              <a:t>Pairwise Similarity Matrix: The system computes a K×K cosine matrix: S_{i, j} = cos(e_i, e_j).</a:t>
            </a:r>
          </a:p>
          <a:p>
            <a:pPr>
              <a:spcBef>
                <a:spcPts val="700"/>
              </a:spcBef>
              <a:defRPr sz="1200">
                <a:solidFill>
                  <a:srgbClr val="CBD5E1"/>
                </a:solidFill>
              </a:defRPr>
            </a:pPr>
            <a:r>
              <a:t>Outlier Rejection Metric: For each clip i, calculate mean angular distance to other clips: d_i = 1 - (1/(K-1)) Σ_{j≠i} S_{i, j}.</a:t>
            </a:r>
          </a:p>
          <a:p>
            <a:pPr>
              <a:spcBef>
                <a:spcPts val="700"/>
              </a:spcBef>
              <a:defRPr sz="1200">
                <a:solidFill>
                  <a:srgbClr val="CBD5E1"/>
                </a:solidFill>
              </a:defRPr>
            </a:pPr>
            <a:r>
              <a:t>IQR Filtering Filter: If d_i &gt; Q_3 + 1.5·IQR or S_{i, median} &lt; 0.65, clip i is automatically purged (cough, background horn, truncated word).</a:t>
            </a:r>
          </a:p>
          <a:p>
            <a:pPr>
              <a:spcBef>
                <a:spcPts val="700"/>
              </a:spcBef>
              <a:defRPr sz="1200">
                <a:solidFill>
                  <a:srgbClr val="CBD5E1"/>
                </a:solidFill>
              </a:defRPr>
            </a:pPr>
            <a:r>
              <a:t>Unit-Normalized Centroid: c = (Σ_{k ∈ valid} e_k) / || Σ_{k ∈ valid} e_k ||_2</a:t>
            </a:r>
            <a:br/>
            <a:r>
              <a:t>Ensures the stored voiceprint rests precisely on the S^(191) unit sphere.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2. Production Software Architecture</a:t>
            </a:r>
          </a:p>
          <a:p>
            <a:pPr>
              <a:spcBef>
                <a:spcPts val="700"/>
              </a:spcBef>
              <a:defRPr sz="1200">
                <a:solidFill>
                  <a:srgbClr val="CBD5E1"/>
                </a:solidFill>
              </a:defRPr>
            </a:pPr>
            <a:r>
              <a:t>PyTorch &amp; SpeechBrain Core: Loads pretrained `spkrec-ecapa-voxceleb` in PyTorch eval mode (`torch.no_grad()`).</a:t>
            </a:r>
          </a:p>
          <a:p>
            <a:pPr>
              <a:spcBef>
                <a:spcPts val="700"/>
              </a:spcBef>
              <a:defRPr sz="1200">
                <a:solidFill>
                  <a:srgbClr val="CBD5E1"/>
                </a:solidFill>
              </a:defRPr>
            </a:pPr>
            <a:r>
              <a:t>FastAPI Async Backend: Provides high-throughput REST endpoints (`/api/verify/live`, `/api/verify/batch`, `/api/enroll`) with non-blocking async execution.</a:t>
            </a:r>
          </a:p>
          <a:p>
            <a:pPr>
              <a:spcBef>
                <a:spcPts val="700"/>
              </a:spcBef>
              <a:defRPr sz="1200">
                <a:solidFill>
                  <a:srgbClr val="CBD5E1"/>
                </a:solidFill>
              </a:defRPr>
            </a:pPr>
            <a:r>
              <a:t>Atomic Storage Engine: Profile centroids saved as NumPy `.npy` files with accompanying JSON metadata (enrollment date, sample count, SNR).</a:t>
            </a:r>
          </a:p>
          <a:p>
            <a:pPr>
              <a:spcBef>
                <a:spcPts val="700"/>
              </a:spcBef>
              <a:defRPr sz="1200">
                <a:solidFill>
                  <a:srgbClr val="CBD5E1"/>
                </a:solidFill>
              </a:defRPr>
            </a:pPr>
            <a:r>
              <a:t>Responsive Web Client: HTML5 Web Audio API records 16 kHz uncompressed WAV; dynamic visual waveform meters and real-time verdict gauges.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SECURITY &amp; ADVERSARIAL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Adversarial Threats: Replay Attacks, Synthetic Deepfakes &amp; Countermeasures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1. Threat Vectors in Voice Biometrics</a:t>
            </a:r>
          </a:p>
          <a:p>
            <a:pPr>
              <a:spcBef>
                <a:spcPts val="900"/>
              </a:spcBef>
              <a:defRPr sz="1200">
                <a:solidFill>
                  <a:srgbClr val="CBD5E1"/>
                </a:solidFill>
              </a:defRPr>
            </a:pPr>
            <a:r>
              <a:t>Replay Attacks: An adversary surreptitiously records the victim's voice and plays it back through high-end smartphone speakers or transducers.</a:t>
            </a:r>
          </a:p>
          <a:p>
            <a:pPr>
              <a:spcBef>
                <a:spcPts val="900"/>
              </a:spcBef>
              <a:defRPr sz="1200">
                <a:solidFill>
                  <a:srgbClr val="CBD5E1"/>
                </a:solidFill>
              </a:defRPr>
            </a:pPr>
            <a:r>
              <a:t>Neural TTS Deepfakes: Text-to-Speech synthesis models (VITS, FastSpeech2) trained on victim's speech to generate arbitrary spoken sentences.</a:t>
            </a:r>
          </a:p>
          <a:p>
            <a:pPr>
              <a:spcBef>
                <a:spcPts val="900"/>
              </a:spcBef>
              <a:defRPr sz="1200">
                <a:solidFill>
                  <a:srgbClr val="CBD5E1"/>
                </a:solidFill>
              </a:defRPr>
            </a:pPr>
            <a:r>
              <a:t>Voice Conversion (VC): Real-time latent conversion (Diffusion/GAN vocoders) that transforms an attacker's live speech into the victim's vocal timbre.</a:t>
            </a:r>
          </a:p>
          <a:p>
            <a:pPr>
              <a:spcBef>
                <a:spcPts val="900"/>
              </a:spcBef>
              <a:defRPr sz="1200">
                <a:solidFill>
                  <a:srgbClr val="CBD5E1"/>
                </a:solidFill>
              </a:defRPr>
            </a:pPr>
            <a:r>
              <a:t>Adversarial Perturbations: Injecting imperceptible high-frequency acoustic noise δ (||δ||_∞ &lt; ε) designed to alter embedding cosine orientation.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2. State-of-the-Art Countermeasures</a:t>
            </a:r>
          </a:p>
          <a:p>
            <a:pPr>
              <a:spcBef>
                <a:spcPts val="900"/>
              </a:spcBef>
              <a:defRPr sz="1200">
                <a:solidFill>
                  <a:srgbClr val="CBD5E1"/>
                </a:solidFill>
              </a:defRPr>
            </a:pPr>
            <a:r>
              <a:t>Front-End Liveness Classifiers: ASVspoof-compliant neural detectors (AASIST / RawNet2) analyzing high-frequency phase inconsistencies and vocoder phase artifacts.</a:t>
            </a:r>
          </a:p>
          <a:p>
            <a:pPr>
              <a:spcBef>
                <a:spcPts val="900"/>
              </a:spcBef>
              <a:defRPr sz="1200">
                <a:solidFill>
                  <a:srgbClr val="CBD5E1"/>
                </a:solidFill>
              </a:defRPr>
            </a:pPr>
            <a:r>
              <a:t>Dynamic Challenge-Response: Presenting cryptographically pseudo-random phrase challenges (e.g. 'Read: 7-4-9-Alpha') validated via on-device ASR to prevent static replays.</a:t>
            </a:r>
          </a:p>
          <a:p>
            <a:pPr>
              <a:spcBef>
                <a:spcPts val="900"/>
              </a:spcBef>
              <a:defRPr sz="1200">
                <a:solidFill>
                  <a:srgbClr val="CBD5E1"/>
                </a:solidFill>
              </a:defRPr>
            </a:pPr>
            <a:r>
              <a:t>Reverberation &amp; Acoustic RIR Analysis: Detecting loudspeaker enclosure transfer functions and secondary room impulse response (RIR) signatures.</a:t>
            </a:r>
          </a:p>
          <a:p>
            <a:pPr>
              <a:spcBef>
                <a:spcPts val="900"/>
              </a:spcBef>
              <a:defRPr sz="1200">
                <a:solidFill>
                  <a:srgbClr val="CBD5E1"/>
                </a:solidFill>
              </a:defRPr>
            </a:pPr>
            <a:r>
              <a:t>Cryptographic Vector Protection: AES-256 storage and homomorphic vector encryption allowing secure matching without decrypting raw centroids.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VERIFICATION &amp;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Live Verification Flow, User Experience &amp; API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468880" cy="27432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Step 1: Capture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Live browser audio streaming or 16 kHz WAV upload. Preprocessed with peak normalization and clipping filters.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27432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5448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D4BF"/>
                </a:solidFill>
              </a:defRPr>
            </a:pPr>
            <a:r>
              <a:t>Step 2: Forward Pass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STFT -&gt; Log-Mel -&gt; ECAPA-TDNN forward pass extracts 192-dim unit vector z in 115 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27432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Step 3: Cosine Match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Dot product: Score = z · c_profile. Evaluated against calibrated threshold τ = 0.70.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2468880" cy="27432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55448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Step 4: Real-Time UI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Verdict card, animated circular gauge, confidence percentage, and detailed audit 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728655" cy="17373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Key System Capabilities Implemented in the Workspace: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</a:defRPr>
            </a:pPr>
            <a:r>
              <a:t>• Single-Page Interactive Web Application: Real-time profile selector, live mic testing, and sample audio batch evaluation.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</a:defRPr>
            </a:pPr>
            <a:r>
              <a:t>• Pre-enrolled Benchmark Profiles: Tested against real vocal samples (e.g. ASTA3, ASTA_primary) with high confidence separation (&gt;0.82 genuine vs &lt;0.38 impostor).</a:t>
            </a:r>
          </a:p>
          <a:p>
            <a:pPr>
              <a:spcBef>
                <a:spcPts val="300"/>
              </a:spcBef>
              <a:defRPr sz="1150">
                <a:solidFill>
                  <a:srgbClr val="CBD5E1"/>
                </a:solidFill>
              </a:defRPr>
            </a:pPr>
            <a:r>
              <a:t>• Dual Frontend Deployment: Standalone zero-dependency HTML interface and React SPA for full developer flexibility.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Case Study Conclusions, Academic Insights &amp; Future Research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VoicePrint · Advanced Artificial Neural Networks Lab Case Study | ECAPA-TDNN Speaker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Summary of Academic Findings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Architecture Superiority: Synergistic integration of 1D dilated convolutions, Res2Net multi-scale features, Squeeze-and-Excitation, and Attentive Statistics Pooling reduces EER by &gt;68% relative to standard TDNN.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Hyperspherical Margin Power: AAM-Softmax (ArcFace) loss mathematically guarantees a geodesic angular margin m on the unit sphere S^(191), making zero-shot open-set verification feasible.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Edge Computational Feasibility: With 6.2M parameters and 115 ms CPU latency, deep neural voice biometrics can operate 100% locally on commodity hardware without cloud latency or privacy exposure.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D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2. Future Research Horizons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Self-Supervised Acoustic Representations: Integrating foundation speech models (WavLM, HuBERT, Wav2Vec 2.0) into the front-end feature extractor.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Post-Training Quantization (INT8): Quantizing model weights using ONNX Runtime or TensorRT for ultra-low memory footprints (&lt;10 MB) on mobile / embedded edge chips.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Online Bayesian Centroid Adaptation: Continuous updating of enrolled centroids to account for long-term vocal tract aging and natural pitch drift.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Q&amp;A &amp; Discussion: Open for faculty questions and technical discussion on neural speaker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